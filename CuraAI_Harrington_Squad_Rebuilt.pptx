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/ppt/media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108192"/>
            <a:ext cx="548640" cy="548640"/>
          </a:xfrm>
          <a:prstGeom prst="rect">
            <a:avLst/>
          </a:prstGeom>
        </p:spPr>
      </p:pic>
      <p:pic>
        <p:nvPicPr>
          <p:cNvPr id="3" name="Image 1" descr="/home/claude/un/ppt/media/image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6108192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20240" y="6245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CURA-AI  |  HARRINGTON SQUAD  |  CONCEPT PITCH</a:t>
            </a:r>
            <a:endParaRPr lang="en-US" sz="1000" dirty="0"/>
          </a:p>
        </p:txBody>
      </p:sp>
      <p:pic>
        <p:nvPicPr>
          <p:cNvPr id="5" name="Image 2" descr="/home/claude/un/ppt/media/imag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6108192"/>
            <a:ext cx="1280160" cy="58887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62453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62453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image" Target="../media/image-1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n/ppt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481328" cy="640080"/>
          </a:xfrm>
          <a:prstGeom prst="rect">
            <a:avLst/>
          </a:prstGeom>
        </p:spPr>
      </p:pic>
      <p:pic>
        <p:nvPicPr>
          <p:cNvPr id="3" name="Image 1" descr="/home/claude/un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65760"/>
            <a:ext cx="1389888" cy="640080"/>
          </a:xfrm>
          <a:prstGeom prst="rect">
            <a:avLst/>
          </a:prstGeom>
        </p:spPr>
      </p:pic>
      <p:pic>
        <p:nvPicPr>
          <p:cNvPr id="4" name="Image 2" descr="/home/claude/un/ppt/media/image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411480"/>
            <a:ext cx="1737360" cy="576072"/>
          </a:xfrm>
          <a:prstGeom prst="rect">
            <a:avLst/>
          </a:prstGeom>
        </p:spPr>
      </p:pic>
      <p:pic>
        <p:nvPicPr>
          <p:cNvPr id="5" name="Image 3" descr="/home/claude/un/ppt/media/image2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20040"/>
            <a:ext cx="731520" cy="731520"/>
          </a:xfrm>
          <a:prstGeom prst="rect">
            <a:avLst/>
          </a:prstGeom>
        </p:spPr>
      </p:pic>
      <p:pic>
        <p:nvPicPr>
          <p:cNvPr id="6" name="Image 4" descr="/home/claude/un/ppt/media/image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20040"/>
            <a:ext cx="731520" cy="73152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548640" y="1691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HARRINGTON SQUAD PRESENTS</a:t>
            </a:r>
            <a:endParaRPr lang="en-US" sz="1400" dirty="0"/>
          </a:p>
        </p:txBody>
      </p:sp>
      <p:sp>
        <p:nvSpPr>
          <p:cNvPr id="8" name="Text 1"/>
          <p:cNvSpPr txBox="1"/>
          <p:nvPr/>
        </p:nvSpPr>
        <p:spPr>
          <a:xfrm>
            <a:off x="548640" y="2057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Cura-AI</a:t>
            </a:r>
            <a:endParaRPr lang="en-US" sz="6000" dirty="0"/>
          </a:p>
        </p:txBody>
      </p:sp>
      <p:sp>
        <p:nvSpPr>
          <p:cNvPr id="9" name="Text 2"/>
          <p:cNvSpPr txBox="1"/>
          <p:nvPr/>
        </p:nvSpPr>
        <p:spPr>
          <a:xfrm>
            <a:off x="54864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out drugs using the power of Big Data</a:t>
            </a:r>
            <a:endParaRPr lang="en-US" sz="2000" dirty="0"/>
          </a:p>
        </p:txBody>
      </p:sp>
      <p:sp>
        <p:nvSpPr>
          <p:cNvPr id="10" name="Text 3"/>
          <p:cNvSpPr txBox="1"/>
          <p:nvPr/>
        </p:nvSpPr>
        <p:spPr>
          <a:xfrm>
            <a:off x="548640" y="3886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 for drug data and student learning</a:t>
            </a:r>
            <a:endParaRPr lang="en-US" sz="1800" dirty="0"/>
          </a:p>
        </p:txBody>
      </p:sp>
      <p:sp>
        <p:nvSpPr>
          <p:cNvPr id="11" name="Text 4"/>
          <p:cNvSpPr txBox="1"/>
          <p:nvPr/>
        </p:nvSpPr>
        <p:spPr>
          <a:xfrm>
            <a:off x="548640" y="48920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Sanjeevi and Himaja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Mariappan • Harris Winfred • Sanjeevi • Himaja</a:t>
            </a:r>
            <a:endParaRPr lang="en-US" sz="1400" dirty="0"/>
          </a:p>
        </p:txBody>
      </p:sp>
      <p:sp>
        <p:nvSpPr>
          <p:cNvPr id="12" name="Shape 5"/>
          <p:cNvSpPr/>
          <p:nvPr/>
        </p:nvSpPr>
        <p:spPr>
          <a:xfrm>
            <a:off x="8138160" y="1691640"/>
            <a:ext cx="3502152" cy="3840480"/>
          </a:xfrm>
          <a:prstGeom prst="roundRect">
            <a:avLst>
              <a:gd name="adj" fmla="val 3916"/>
            </a:avLst>
          </a:prstGeom>
          <a:solidFill>
            <a:srgbClr val="14284B"/>
          </a:solidFill>
          <a:ln w="6350">
            <a:solidFill>
              <a:srgbClr val="14284B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8503920" y="2011680"/>
            <a:ext cx="2770632" cy="731520"/>
          </a:xfrm>
          <a:prstGeom prst="roundRect">
            <a:avLst>
              <a:gd name="adj" fmla="val 12500"/>
            </a:avLst>
          </a:prstGeom>
          <a:solidFill>
            <a:srgbClr val="0E9594"/>
          </a:solidFill>
          <a:ln w="6350">
            <a:solidFill>
              <a:srgbClr val="0E9594"/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8503920" y="2011680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000" dirty="0"/>
          </a:p>
        </p:txBody>
      </p:sp>
      <p:sp>
        <p:nvSpPr>
          <p:cNvPr id="15" name="Text 8"/>
          <p:cNvSpPr txBox="1"/>
          <p:nvPr/>
        </p:nvSpPr>
        <p:spPr>
          <a:xfrm>
            <a:off x="8503920" y="274320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9"/>
          <p:cNvSpPr/>
          <p:nvPr/>
        </p:nvSpPr>
        <p:spPr>
          <a:xfrm>
            <a:off x="8503920" y="3108960"/>
            <a:ext cx="2770632" cy="731520"/>
          </a:xfrm>
          <a:prstGeom prst="roundRect">
            <a:avLst>
              <a:gd name="adj" fmla="val 12500"/>
            </a:avLst>
          </a:prstGeom>
          <a:solidFill>
            <a:srgbClr val="E9A93A"/>
          </a:solidFill>
          <a:ln w="6350">
            <a:solidFill>
              <a:srgbClr val="E9A93A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8503920" y="3108960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2000" dirty="0"/>
          </a:p>
        </p:txBody>
      </p:sp>
      <p:sp>
        <p:nvSpPr>
          <p:cNvPr id="18" name="Text 11"/>
          <p:cNvSpPr txBox="1"/>
          <p:nvPr/>
        </p:nvSpPr>
        <p:spPr>
          <a:xfrm>
            <a:off x="8503920" y="3840480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8503920" y="4206240"/>
            <a:ext cx="2770632" cy="731520"/>
          </a:xfrm>
          <a:prstGeom prst="roundRect">
            <a:avLst>
              <a:gd name="adj" fmla="val 12500"/>
            </a:avLst>
          </a:prstGeom>
          <a:solidFill>
            <a:srgbClr val="E5705A"/>
          </a:solidFill>
          <a:ln w="6350">
            <a:solidFill>
              <a:srgbClr val="E5705A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8503920" y="4206240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•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 behind Cura-AI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Harrington Squad is building a concept that makes drug information easier to find, compare and learn from.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0180" y="2514600"/>
            <a:ext cx="822960" cy="822960"/>
          </a:xfrm>
          <a:prstGeom prst="ellipse">
            <a:avLst/>
          </a:prstGeom>
          <a:solidFill>
            <a:srgbClr val="14284B"/>
          </a:solidFill>
          <a:ln w="6350">
            <a:solidFill>
              <a:srgbClr val="1428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4018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MARIAPPAN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55848" y="21945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47388" y="2514600"/>
            <a:ext cx="822960" cy="822960"/>
          </a:xfrm>
          <a:prstGeom prst="ellipse">
            <a:avLst/>
          </a:prstGeom>
          <a:solidFill>
            <a:srgbClr val="0E9594"/>
          </a:solidFill>
          <a:ln w="6350">
            <a:solidFill>
              <a:srgbClr val="0E959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47388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HARRIS WINFRED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founding member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63056" y="21945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54596" y="2514600"/>
            <a:ext cx="822960" cy="822960"/>
          </a:xfrm>
          <a:prstGeom prst="ellipse">
            <a:avLst/>
          </a:prstGeom>
          <a:solidFill>
            <a:srgbClr val="E9A93A"/>
          </a:solidFill>
          <a:ln w="6350">
            <a:solidFill>
              <a:srgbClr val="E9A9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54596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SANJEEVI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163056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70264" y="21945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61804" y="2514600"/>
            <a:ext cx="822960" cy="822960"/>
          </a:xfrm>
          <a:prstGeom prst="ellipse">
            <a:avLst/>
          </a:prstGeom>
          <a:solidFill>
            <a:srgbClr val="E5705A"/>
          </a:solidFill>
          <a:ln w="6350">
            <a:solidFill>
              <a:srgbClr val="E570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61804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970264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HIMAJA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970264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Co-presenter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E9F5F4"/>
          </a:solidFill>
          <a:ln w="6350">
            <a:solidFill>
              <a:srgbClr val="E9F5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98348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mission: connect trustworthy drug data with clear, accessible educational resources.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62453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•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drug information is fragmented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22392" cy="1920240"/>
          </a:xfrm>
          <a:prstGeom prst="roundRect">
            <a:avLst>
              <a:gd name="adj" fmla="val 4762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365760" cy="365760"/>
          </a:xfrm>
          <a:prstGeom prst="ellipse">
            <a:avLst/>
          </a:prstGeom>
          <a:solidFill>
            <a:srgbClr val="0E9594"/>
          </a:solidFill>
          <a:ln w="6350">
            <a:solidFill>
              <a:srgbClr val="0E959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64792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RESEARCHERS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4873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structures, properties, targets and interactions may be spread across different databases. Finding, comparing and cleaning data can delay the actual research.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5422392" cy="1920240"/>
          </a:xfrm>
          <a:prstGeom prst="roundRect">
            <a:avLst>
              <a:gd name="adj" fmla="val 4762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737360"/>
            <a:ext cx="365760" cy="365760"/>
          </a:xfrm>
          <a:prstGeom prst="ellipse">
            <a:avLst/>
          </a:prstGeom>
          <a:solidFill>
            <a:srgbClr val="E9A93A"/>
          </a:solidFill>
          <a:ln w="6350">
            <a:solidFill>
              <a:srgbClr val="E9A9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764792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STUDENTS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286000"/>
            <a:ext cx="4873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databases often present raw technical data, while learning resources are scattered across textbooks, videos and notes with different levels of depth.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4284B"/>
          </a:solidFill>
          <a:ln w="6350">
            <a:solidFill>
              <a:srgbClr val="1428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657600"/>
            <a:ext cx="10634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one accessible workspace that combines organized drug information with understandable learning materials.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from the source brief: during COVID-19 drug-repurposing work, researchers needed to integrate drug–target data from multiple sources. Licensing terms also vary by database.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to verify before public launch: source-specific licenses, dataset permissions and current database terms.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62453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• PRODUCT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solution: one place to search, study and compare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Cura-AI is a proposed web platform combining a searchable drug-data workspace with student-focused learning resources.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22392" cy="1325880"/>
          </a:xfrm>
          <a:prstGeom prst="roundRect">
            <a:avLst>
              <a:gd name="adj" fmla="val 6897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86000"/>
            <a:ext cx="685800" cy="685800"/>
          </a:xfrm>
          <a:prstGeom prst="ellipse">
            <a:avLst/>
          </a:prstGeom>
          <a:solidFill>
            <a:srgbClr val="0E9594"/>
          </a:solidFill>
          <a:ln w="6350">
            <a:solidFill>
              <a:srgbClr val="0E959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148840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514600"/>
            <a:ext cx="4050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drug records, structures, properties, known targets and interactions.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422392" cy="1325880"/>
          </a:xfrm>
          <a:prstGeom prst="roundRect">
            <a:avLst>
              <a:gd name="adj" fmla="val 6897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286000"/>
            <a:ext cx="685800" cy="685800"/>
          </a:xfrm>
          <a:prstGeom prst="ellipse">
            <a:avLst/>
          </a:prstGeom>
          <a:solidFill>
            <a:srgbClr val="E9A93A"/>
          </a:solidFill>
          <a:ln w="6350">
            <a:solidFill>
              <a:srgbClr val="E9A9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148840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514600"/>
            <a:ext cx="4050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compare information in a consistent layout, with 2D/3D structure viewing as a planned feature.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422392" cy="1325880"/>
          </a:xfrm>
          <a:prstGeom prst="roundRect">
            <a:avLst>
              <a:gd name="adj" fmla="val 6897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794760"/>
            <a:ext cx="685800" cy="685800"/>
          </a:xfrm>
          <a:prstGeom prst="ellipse">
            <a:avLst/>
          </a:prstGeom>
          <a:solidFill>
            <a:srgbClr val="E5705A"/>
          </a:solidFill>
          <a:ln w="6350">
            <a:solidFill>
              <a:srgbClr val="E570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794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657600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7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023360"/>
            <a:ext cx="4050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reviewed notes, diagrams, videos and frequently asked questions alongside technical data.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3474720"/>
            <a:ext cx="5422392" cy="1325880"/>
          </a:xfrm>
          <a:prstGeom prst="roundRect">
            <a:avLst>
              <a:gd name="adj" fmla="val 6897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794760"/>
            <a:ext cx="685800" cy="685800"/>
          </a:xfrm>
          <a:prstGeom prst="ellipse">
            <a:avLst/>
          </a:prstGeom>
          <a:solidFill>
            <a:srgbClr val="14284B"/>
          </a:solidFill>
          <a:ln w="6350">
            <a:solidFill>
              <a:srgbClr val="1428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3794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3657600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4023360"/>
            <a:ext cx="4050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free public preview and institution-funded premium access for students and faculty.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E9F5F4"/>
          </a:solidFill>
          <a:ln w="6350">
            <a:solidFill>
              <a:srgbClr val="E9F5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07492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Differentiator: drug-data discovery and learning support are designed together, rather than as separate experiences.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62453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• PRODUCT VISUAL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visuals: drug search and molecular data examples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2239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3619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MOLECULAR STRUCTURE VIEW</a:t>
            </a:r>
            <a:endParaRPr lang="en-US" sz="1200" dirty="0"/>
          </a:p>
        </p:txBody>
      </p:sp>
      <p:pic>
        <p:nvPicPr>
          <p:cNvPr id="6" name="Image 0" descr="/home/claude/un/ppt/media/image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0357" y="1874520"/>
            <a:ext cx="2958957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463040"/>
            <a:ext cx="542239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53619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SEARCH RESULTS: INSULIN</a:t>
            </a:r>
            <a:endParaRPr lang="en-US" sz="1200" dirty="0"/>
          </a:p>
        </p:txBody>
      </p:sp>
      <p:pic>
        <p:nvPicPr>
          <p:cNvPr id="9" name="Image 1" descr="/home/claude/un/ppt/media/imag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882" y="1874520"/>
            <a:ext cx="1798469" cy="1645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749040"/>
            <a:ext cx="542239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382219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STRUCTURE RESULTS</a:t>
            </a:r>
            <a:endParaRPr lang="en-US" sz="1200" dirty="0"/>
          </a:p>
        </p:txBody>
      </p:sp>
      <p:pic>
        <p:nvPicPr>
          <p:cNvPr id="12" name="Image 2" descr="/home/claude/un/ppt/media/imag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998" y="4160520"/>
            <a:ext cx="2021677" cy="16459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217920" y="3749040"/>
            <a:ext cx="542239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400800" y="382219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MOLECULAR RECORD DETAILS</a:t>
            </a:r>
            <a:endParaRPr lang="en-US" sz="1200" dirty="0"/>
          </a:p>
        </p:txBody>
      </p:sp>
      <p:pic>
        <p:nvPicPr>
          <p:cNvPr id="15" name="Image 3" descr="/home/claude/un/ppt/media/image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301" y="4160520"/>
            <a:ext cx="1673629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62453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• COMPETITION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landscape: combining data with learning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920240"/>
                <a:gridCol w="1920240"/>
                <a:gridCol w="2103120"/>
                <a:gridCol w="203911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Textbooks / 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platforms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databases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Cura-AI concept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59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data in one place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5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Student-friendly explanations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varies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varies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technical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5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focus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FAQs, diagrams and videos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Video-led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/ varies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5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bundle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search / comparison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5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University-wide access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typical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License-dependent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5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548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E9F5F4"/>
          </a:solidFill>
          <a:ln w="6350">
            <a:solidFill>
              <a:srgbClr val="E9F5F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75488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USP: one workspace for organized drug data plus student-friendly notes, diagrams, FAQs and videos.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comparison is qualitative; feature availability and licensing must be checked product by product.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62453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• 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opportunity: start with university departments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22392" cy="1463040"/>
          </a:xfrm>
          <a:prstGeom prst="roundRect">
            <a:avLst>
              <a:gd name="adj" fmla="val 6250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320040" cy="320040"/>
          </a:xfrm>
          <a:prstGeom prst="ellipse">
            <a:avLst/>
          </a:prstGeom>
          <a:solidFill>
            <a:srgbClr val="0E9594"/>
          </a:solidFill>
          <a:ln w="6350">
            <a:solidFill>
              <a:srgbClr val="0E959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45920"/>
            <a:ext cx="4507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BUYER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965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and colleges with pharmacy, pharmacology, medicine, biotechnology, chemistry and life-science departments.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22392" cy="1463040"/>
          </a:xfrm>
          <a:prstGeom prst="roundRect">
            <a:avLst>
              <a:gd name="adj" fmla="val 6250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45920"/>
            <a:ext cx="320040" cy="320040"/>
          </a:xfrm>
          <a:prstGeom prst="ellipse">
            <a:avLst/>
          </a:prstGeom>
          <a:solidFill>
            <a:srgbClr val="E9A93A"/>
          </a:solidFill>
          <a:ln w="6350">
            <a:solidFill>
              <a:srgbClr val="E9A9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645920"/>
            <a:ext cx="4507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USERS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103120"/>
            <a:ext cx="4965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and postgraduate students, research scholars and faculty who need both drug information and learning support.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108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bottom-up illustration—not a market forecast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359359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66160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9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5196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reached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61772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outreach target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3520440"/>
            <a:ext cx="359359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97680" y="3566160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8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425196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students each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461772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average audience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520440"/>
            <a:ext cx="359359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0" y="3566160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570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425196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student seats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4617720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× 300; not confirmed demand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16636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E9F5F4"/>
          </a:solidFill>
          <a:ln w="6350">
            <a:solidFill>
              <a:srgbClr val="E9F5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16636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logic: one institutional agreement can serve many learners. Validate willingness to pay, student usage and procurement timelines through pilot interviews before relying on market-size estimates.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62453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•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and innovation: build in stages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017520" cy="676656"/>
          </a:xfrm>
          <a:prstGeom prst="roundRect">
            <a:avLst>
              <a:gd name="adj" fmla="val 10811"/>
            </a:avLst>
          </a:prstGeom>
          <a:solidFill>
            <a:srgbClr val="0E9594"/>
          </a:solidFill>
          <a:ln w="6350">
            <a:solidFill>
              <a:srgbClr val="0E959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CURATE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749040" y="1463040"/>
            <a:ext cx="7891272" cy="676656"/>
          </a:xfrm>
          <a:prstGeom prst="roundRect">
            <a:avLst>
              <a:gd name="adj" fmla="val 13514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31920" y="1463040"/>
            <a:ext cx="7543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permitted public drug records and learning references; record provenance and license conditions.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3017520" cy="676656"/>
          </a:xfrm>
          <a:prstGeom prst="roundRect">
            <a:avLst>
              <a:gd name="adj" fmla="val 10811"/>
            </a:avLst>
          </a:prstGeom>
          <a:solidFill>
            <a:srgbClr val="E9A93A"/>
          </a:solidFill>
          <a:ln w="6350">
            <a:solidFill>
              <a:srgbClr val="E9A9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26771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STANDARDIZE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749040" y="2267712"/>
            <a:ext cx="7891272" cy="676656"/>
          </a:xfrm>
          <a:prstGeom prst="roundRect">
            <a:avLst>
              <a:gd name="adj" fmla="val 13514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2267712"/>
            <a:ext cx="7543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names, identifiers, units and fields; flag missing or conflicting records.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72384"/>
            <a:ext cx="3017520" cy="676656"/>
          </a:xfrm>
          <a:prstGeom prst="roundRect">
            <a:avLst>
              <a:gd name="adj" fmla="val 10811"/>
            </a:avLst>
          </a:prstGeom>
          <a:solidFill>
            <a:srgbClr val="E5705A"/>
          </a:solidFill>
          <a:ln w="6350">
            <a:solidFill>
              <a:srgbClr val="E570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72384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SEARCH &amp; DISPLAY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49040" y="3072384"/>
            <a:ext cx="7891272" cy="676656"/>
          </a:xfrm>
          <a:prstGeom prst="roundRect">
            <a:avLst>
              <a:gd name="adj" fmla="val 13514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3072384"/>
            <a:ext cx="7543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records in a searchable database and present structures, properties, targets and interactions.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877056"/>
            <a:ext cx="3017520" cy="676656"/>
          </a:xfrm>
          <a:prstGeom prst="roundRect">
            <a:avLst>
              <a:gd name="adj" fmla="val 10811"/>
            </a:avLst>
          </a:prstGeom>
          <a:solidFill>
            <a:srgbClr val="14284B"/>
          </a:solidFill>
          <a:ln w="6350">
            <a:solidFill>
              <a:srgbClr val="1428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7705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LEARN &amp; IMPROVE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749040" y="3877056"/>
            <a:ext cx="7891272" cy="676656"/>
          </a:xfrm>
          <a:prstGeom prst="roundRect">
            <a:avLst>
              <a:gd name="adj" fmla="val 13514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31920" y="3877056"/>
            <a:ext cx="7543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reviewed study content, usage analytics and later recommendation/NLP features.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9F5F4"/>
          </a:solidFill>
          <a:ln w="6350">
            <a:solidFill>
              <a:srgbClr val="E9F5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75488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IPR: protect original notes, diagrams, videos, curated arrangements and brand; assess patents only for genuinely novel technical methods.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TRL: concept / early planning stage. A working MVP and benchmarked AI capabilities are future milestones, not current claims.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62453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• 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model: institutions pay, students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22392" cy="1508760"/>
          </a:xfrm>
          <a:prstGeom prst="roundRect">
            <a:avLst>
              <a:gd name="adj" fmla="val 6061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320040" cy="320040"/>
          </a:xfrm>
          <a:prstGeom prst="ellipse">
            <a:avLst/>
          </a:prstGeom>
          <a:solidFill>
            <a:srgbClr val="0E9594"/>
          </a:solidFill>
          <a:ln w="6350">
            <a:solidFill>
              <a:srgbClr val="0E959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45920"/>
            <a:ext cx="4507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PRIMARY: INSTITUTIONAL LICENSE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965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pay annually for full student/faculty access, reviewed resources and optional usage analytics.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22392" cy="1508760"/>
          </a:xfrm>
          <a:prstGeom prst="roundRect">
            <a:avLst>
              <a:gd name="adj" fmla="val 6061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45920"/>
            <a:ext cx="320040" cy="320040"/>
          </a:xfrm>
          <a:prstGeom prst="ellipse">
            <a:avLst/>
          </a:prstGeom>
          <a:solidFill>
            <a:srgbClr val="E9A93A"/>
          </a:solidFill>
          <a:ln w="6350">
            <a:solidFill>
              <a:srgbClr val="E9A9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645920"/>
            <a:ext cx="4507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SECONDARY: INDIVIDUAL PREMIUM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103120"/>
            <a:ext cx="4965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without a campus subscription may buy personal access. A free public layer builds awareness and lets users evaluate value.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154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Indicative starting prices from the project brief (to be tested with buyers)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651760"/>
                <a:gridCol w="45994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Universities / colleges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5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₹1.5–4 lakh /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 for students and faculty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medical / pharmacy colleges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5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₹4–8 lakh /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Site-wide license + optional analytics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students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95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₹999–₹2,499 /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access if institution is not subscribed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48640" y="52578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E9F5F4"/>
          </a:solidFill>
          <a:ln w="6350">
            <a:solidFill>
              <a:srgbClr val="E9F5F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525780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channels: faculty demos, department pilots, incubators, student ambassadors and direct university outreach.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62453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• GTM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Go-to-market: prove value with a small 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93592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0E9594"/>
          </a:solidFill>
          <a:ln w="6350">
            <a:solidFill>
              <a:srgbClr val="0E959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3136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30–50 students/faculty; publish 20–30 reviewed resources; pilot with 1–2 departments; aim for 100–200 registrations.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93592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69164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C98414"/>
          </a:solidFill>
          <a:ln w="6350">
            <a:solidFill>
              <a:srgbClr val="C984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24028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834640"/>
            <a:ext cx="3136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500–1,000 registrations; expand to 3–5 departments; test first paid student or institutional plan.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593592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69164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E5705A"/>
          </a:solidFill>
          <a:ln w="6350">
            <a:solidFill>
              <a:srgbClr val="E57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24028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834640"/>
            <a:ext cx="3136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2,000–5,000 registrations; work with 5–10 colleges; maintain 150–250 reviewed resources and seek renewals.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9F5F4"/>
          </a:solidFill>
          <a:ln w="6350">
            <a:solidFill>
              <a:srgbClr val="E9F5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98348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metric: repeat use + credible learning feedback + at least one institution willing to run or fund a pilot.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62453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• TIMELINE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 and resource allocation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0E9594"/>
          </a:solidFill>
          <a:ln w="6350">
            <a:solidFill>
              <a:srgbClr val="0E959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4630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46304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drug-data and resource catalogue; core website; 20–30 reviewed learning resources.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8892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C98414"/>
          </a:solidFill>
          <a:ln w="6350">
            <a:solidFill>
              <a:srgbClr val="C984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788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6060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260604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analytics; better search; recommendations prototype; NLP exploration for reviewed content.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93192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E5705A"/>
          </a:solidFill>
          <a:ln w="6350">
            <a:solidFill>
              <a:srgbClr val="E570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9319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37490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SCALE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374904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additional permitted datasets; test drug-target analysis prototype against held-out benchmark data; seek university validation.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E9F5F4"/>
          </a:solidFill>
          <a:ln w="6350">
            <a:solidFill>
              <a:srgbClr val="E9F5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02920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estimate in the brief: 6–12 months with a small core team; 3–6 months may be possible if suitable open-source tools and infrastructure are reused.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62453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• BUDGET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overview: a ₹1 lakh initial plan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funding required: ₹1,00,000  |  Proposed funding sources—not confirmed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30936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8288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development &amp; hosting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E95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 data &amp; AI research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E95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Educational content &amp; scientific 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E95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&amp; college outreach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E95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&amp; administration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E95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reserve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E95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₹1,00,000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132320" y="1874520"/>
            <a:ext cx="4507992" cy="1600200"/>
          </a:xfrm>
          <a:prstGeom prst="roundRect">
            <a:avLst>
              <a:gd name="adj" fmla="val 5714"/>
            </a:avLst>
          </a:prstGeom>
          <a:solidFill>
            <a:srgbClr val="F5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6092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SOURCES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60920" y="2423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contributions: ₹25,000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Incubators / competitions: ₹50,000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/ external funding: ₹25,000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132320" y="3657600"/>
            <a:ext cx="4507992" cy="1170432"/>
          </a:xfrm>
          <a:prstGeom prst="roundRect">
            <a:avLst>
              <a:gd name="adj" fmla="val 7813"/>
            </a:avLst>
          </a:prstGeom>
          <a:solidFill>
            <a:srgbClr val="E9F5F4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60920" y="3749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3-MONTH OUTCOME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41148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a working website, 20–30 reviewed resources, 100–200 registered users and a basic AI research prototype.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029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detailed 3-year revenue/expense forecast is not supplied in the project brief. Build it after validating pricing, institutional conversion, hosting costs and development needs.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418320" y="62453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9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ra-AI">
  <a:themeElements>
    <a:clrScheme name="Cura-AI">
      <a:dk1>
        <a:srgbClr val="1A1A1A"/>
      </a:dk1>
      <a:lt1>
        <a:srgbClr val="FFFFFF"/>
      </a:lt1>
      <a:dk2>
        <a:srgbClr val="14284B"/>
      </a:dk2>
      <a:lt2>
        <a:srgbClr val="F5F8FA"/>
      </a:lt2>
      <a:accent1>
        <a:srgbClr val="0E9594"/>
      </a:accent1>
      <a:accent2>
        <a:srgbClr val="E9A93A"/>
      </a:accent2>
      <a:accent3>
        <a:srgbClr val="E5705A"/>
      </a:accent3>
      <a:accent4>
        <a:srgbClr val="14284B"/>
      </a:accent4>
      <a:accent5>
        <a:srgbClr val="6B7C93"/>
      </a:accent5>
      <a:accent6>
        <a:srgbClr val="9FD3CF"/>
      </a:accent6>
      <a:hlink>
        <a:srgbClr val="0E9594"/>
      </a:hlink>
      <a:folHlink>
        <a:srgbClr val="6B7C93"/>
      </a:folHlink>
    </a:clrScheme>
    <a:fontScheme name="Cura-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Cura-AI | Harrington Squad Concept Pitch</dc:title>
  <dc:subject>PptxGenJS Presentation</dc:subject>
  <dc:creator>Harrington Squad</dc:creator>
  <cp:lastModifiedBy>Harrington Squad</cp:lastModifiedBy>
  <cp:revision>1</cp:revision>
  <dcterms:created xsi:type="dcterms:W3CDTF">2026-10-15T19:08:05Z</dcterms:created>
  <dcterms:modified xsi:type="dcterms:W3CDTF">2026-10-15T19:08:05Z</dcterms:modified>
</cp:coreProperties>
</file>